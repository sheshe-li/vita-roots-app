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2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2666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2E4A35"/>
          </a:solidFill>
          <a:ln w="12700">
            <a:solidFill>
              <a:srgbClr val="2E4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274320"/>
            <a:ext cx="2011680" cy="2011680"/>
          </a:xfrm>
          <a:prstGeom prst="ellipse">
            <a:avLst/>
          </a:prstGeom>
          <a:solidFill>
            <a:srgbClr val="3E6B4A"/>
          </a:solidFill>
          <a:ln w="12700">
            <a:solidFill>
              <a:srgbClr val="3E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CAPSTONE · PART 1 · MAY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Vita Roots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i="1" dirty="0">
                <a:solidFill>
                  <a:srgbClr val="A8C4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Harvester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11480" y="3291840"/>
            <a:ext cx="3200400" cy="0"/>
          </a:xfrm>
          <a:prstGeom prst="line">
            <a:avLst/>
          </a:prstGeom>
          <a:noFill/>
          <a:ln w="1905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Tasheena Aguilera  ·  Intelligent Automation Immersive  ·  9BRAINS / Divergence Academy / Helm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 · Enrich · Separate · Compound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2801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32918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wellness plans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stale silently.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49040" y="548640"/>
            <a:ext cx="5029200" cy="1737360"/>
          </a:xfrm>
          <a:prstGeom prst="rect">
            <a:avLst/>
          </a:prstGeom>
          <a:solidFill>
            <a:srgbClr val="FDFA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77640" y="713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🔬  Medical research evolves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7640" y="1115568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peer-reviewed findings may affect a member's supplement protocol or meal plan — but families have no way to know when research relevant to their profile has published.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2560320"/>
            <a:ext cx="5029200" cy="1737360"/>
          </a:xfrm>
          <a:prstGeom prst="rect">
            <a:avLst/>
          </a:prstGeom>
          <a:solidFill>
            <a:srgbClr val="FDFA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97764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Markets shift without warning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77640" y="3127248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 and supplements in active family plans are subject to price volatility. Families discover the problem at checkout, not before it.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49040" y="443484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failure modes share one root cause: the plan becomes stale and the family doesn't know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1  ·  PRODUCT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Brief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325880"/>
          </a:xfrm>
          <a:prstGeom prst="rect">
            <a:avLst/>
          </a:prstGeom>
          <a:solidFill>
            <a:srgbClr val="FAF5ED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64008" cy="132588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account holder managing family nutrition — too busy to monitor medical research or commodity prices independently.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14800" cy="1325880"/>
          </a:xfrm>
          <a:prstGeom prst="rect">
            <a:avLst/>
          </a:prstGeom>
          <a:solidFill>
            <a:srgbClr val="FAF5ED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691640"/>
            <a:ext cx="64008" cy="132588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65192" y="207568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plans generated by AI become stale as research evolves and markets shift, with no early warning system for affected families.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114800" cy="1325880"/>
          </a:xfrm>
          <a:prstGeom prst="rect">
            <a:avLst/>
          </a:prstGeom>
          <a:solidFill>
            <a:srgbClr val="FAF5ED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64008" cy="132588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0352" y="35844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harvesting layer: catch PubMed research + market price signals → enrich against family profiles → score → HITL approval gate.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00400"/>
            <a:ext cx="4114800" cy="1325880"/>
          </a:xfrm>
          <a:prstGeom prst="rect">
            <a:avLst/>
          </a:prstGeom>
          <a:solidFill>
            <a:srgbClr val="FAF5ED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3200400"/>
            <a:ext cx="64008" cy="132588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3291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65192" y="358444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research alert within 4 hrs of PubMed indexing. Price alert within 24 hrs of ≥15% projected increase. End-to-end demo under 5 minutes.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 Types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signals. One product. Completely different enrichment paths.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31920" cy="3520440"/>
          </a:xfrm>
          <a:prstGeom prst="rect">
            <a:avLst/>
          </a:prstGeom>
          <a:solidFill>
            <a:srgbClr val="1E3A2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 SIGNAL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PubMed · arXiv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peer-reviewed publication intersects with a member's conditions, goals, supplements, or life stage.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8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score ≥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5844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preprints, animal studies, sample &lt; 50, no member match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Adopt · Flag &amp; revisit · Stay the course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3931920" cy="3520440"/>
          </a:xfrm>
          <a:prstGeom prst="rect">
            <a:avLst/>
          </a:prstGeom>
          <a:solidFill>
            <a:srgbClr val="C05A2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D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MARKET SIGNAL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Commodity price APIs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22860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price increase ≥15% or supply disruption on an item in the family's active grocery or supplement list.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score ≥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4920" y="358444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fluctuations &lt; 15%, items not in active plan, single-day spikes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4251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AF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HITL: Stock up · Substitute · Stay the course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4A35"/>
          </a:solidFill>
          <a:ln w="12700">
            <a:solidFill>
              <a:srgbClr val="2E4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2  ·  SYSTEMS THINKING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1920240" cy="2194560"/>
          </a:xfrm>
          <a:prstGeom prst="rect">
            <a:avLst/>
          </a:prstGeom>
          <a:solidFill>
            <a:srgbClr val="1E3A2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719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API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APIs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50592" y="1645920"/>
            <a:ext cx="1920240" cy="2194560"/>
          </a:xfrm>
          <a:prstGeom prst="rect">
            <a:avLst/>
          </a:prstGeom>
          <a:solidFill>
            <a:srgbClr val="3E6B4A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719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50592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profiles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embeddings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70832" y="25146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26864" y="1645920"/>
            <a:ext cx="1920240" cy="2194560"/>
          </a:xfrm>
          <a:prstGeom prst="rect">
            <a:avLst/>
          </a:prstGeom>
          <a:solidFill>
            <a:srgbClr val="C05A2B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1719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26864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26864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47104" y="251460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9A96E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803136" y="1645920"/>
            <a:ext cx="1920240" cy="2194560"/>
          </a:xfrm>
          <a:prstGeom prst="rect">
            <a:avLst/>
          </a:prstGeom>
          <a:solidFill>
            <a:srgbClr val="3B201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171907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03136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03136" y="2697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WellnessAgent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Failure Modes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3159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rate limit → exponential backoff + cache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API outage → graceful degradation, log warning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plan for family → skip enrichment, abort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43159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HITL timeout → default: stay the course (logged)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4617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</a:t>
            </a: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enrichment latency at scale — mitigated by prompt caching.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4 Atomic MCP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each. No bundled judgment.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61872"/>
            <a:ext cx="4114800" cy="1600200"/>
          </a:xfrm>
          <a:prstGeom prst="rect">
            <a:avLst/>
          </a:prstGeom>
          <a:solidFill>
            <a:srgbClr val="FDFA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64008" cy="1600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353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fetch_pubmed_research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56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PubMed E-utilities API by keyword. Returns raw article metadata: title, journal, pub date, authors, peer-review status. No scoring.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 articles · is_peer_reviewed: true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4114800" cy="1600200"/>
          </a:xfrm>
          <a:prstGeom prst="rect">
            <a:avLst/>
          </a:prstGeom>
          <a:solidFill>
            <a:srgbClr val="FDFA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00600" y="1261872"/>
            <a:ext cx="64008" cy="160020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65192" y="13533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965192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fetch_market_prices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18562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Open Food Facts and commodity feeds for active grocery and supplement items. Flags items for price monitoring.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5192" y="2560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salmon, vitamin D, olive oil · flagged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044952"/>
            <a:ext cx="4114800" cy="1600200"/>
          </a:xfrm>
          <a:prstGeom prst="rect">
            <a:avLst/>
          </a:prstGeom>
          <a:solidFill>
            <a:srgbClr val="FDFA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3044952"/>
            <a:ext cx="64008" cy="1600200"/>
          </a:xfrm>
          <a:prstGeom prst="rect">
            <a:avLst/>
          </a:prstGeom>
          <a:solidFill>
            <a:srgbClr val="3E6B4A"/>
          </a:solidFill>
          <a:ln w="12700">
            <a:solidFill>
              <a:srgbClr val="3E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match_family_profiles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36393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signal text against each member's health conditions, goals, current supplements, dietary style, and life stage.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" y="4343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Sarah Johnson · 5 match reasons · VR-001001-M1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3044952"/>
            <a:ext cx="4114800" cy="1600200"/>
          </a:xfrm>
          <a:prstGeom prst="rect">
            <a:avLst/>
          </a:prstGeom>
          <a:solidFill>
            <a:srgbClr val="FDFAF4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3044952"/>
            <a:ext cx="64008" cy="160020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65192" y="313639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65192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score_signal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5192" y="363931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rubric: +3 peer-reviewed, +2 sample size, +3 member match, +2 plan modification, -3 animal study. Returns score + fire/suppress.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65192" y="43434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Score: 10 · Recommendation: fire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 Approval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Stakes × Reversibility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3840480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(health)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(cost)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48hr timeout → stay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 Flow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426464"/>
            <a:ext cx="347472" cy="347472"/>
          </a:xfrm>
          <a:prstGeom prst="ellipse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/>
          <p:nvPr/>
        </p:nvSpPr>
        <p:spPr>
          <a:xfrm>
            <a:off x="4663440" y="1426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02352" y="13898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generated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920240"/>
            <a:ext cx="347472" cy="347472"/>
          </a:xfrm>
          <a:prstGeom prst="ellipse">
            <a:avLst/>
          </a:prstGeom>
          <a:solidFill>
            <a:srgbClr val="3E6B4A"/>
          </a:solidFill>
          <a:ln w="12700">
            <a:solidFill>
              <a:srgbClr val="3E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663440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102352" y="188366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record + token created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2414016"/>
            <a:ext cx="347472" cy="347472"/>
          </a:xfrm>
          <a:prstGeom prst="ellipse">
            <a:avLst/>
          </a:prstGeom>
          <a:solidFill>
            <a:srgbClr val="5E8A68"/>
          </a:solidFill>
          <a:ln w="12700">
            <a:solidFill>
              <a:srgbClr val="5E8A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663440" y="24140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02352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dispatched via Resend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63440" y="2907792"/>
            <a:ext cx="347472" cy="347472"/>
          </a:xfrm>
          <a:prstGeom prst="ellipse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63440" y="29077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02352" y="28712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clicks Approve / Reject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401568"/>
            <a:ext cx="347472" cy="347472"/>
          </a:xfrm>
          <a:prstGeom prst="ellipse">
            <a:avLst/>
          </a:prstGeom>
          <a:solidFill>
            <a:srgbClr val="3B2010"/>
          </a:solidFill>
          <a:ln w="12700">
            <a:solidFill>
              <a:srgbClr val="3B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663440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02352" y="336499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resolved · Plan updated · Audit logged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decisions:  Adopt direction  ·  Flag &amp; revisit (30 days)  ·  Stay the course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decisions:  Stock up early  ·  Substitute item  ·  Stay the course (default on timeout)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82803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to the audit trail. No plan change occurs without explicit human approval on health signals.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specialized agents. One shared observability layer.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474720"/>
          </a:xfrm>
          <a:prstGeom prst="rect">
            <a:avLst/>
          </a:prstGeom>
          <a:solidFill>
            <a:srgbClr val="FDFAF4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82296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298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🌿 Wellness Planner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691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CLIENT-FACING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99339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meal plans, grocery lists, and supplement guides. Feeds HITL approval gates after every generation.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3429000"/>
            <a:ext cx="2423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9768" y="34930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E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generate_meal_plan · generate_grocery · generate_supplement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3474720"/>
          </a:xfrm>
          <a:prstGeom prst="rect">
            <a:avLst/>
          </a:prstGeom>
          <a:solidFill>
            <a:srgbClr val="FDFAF4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651760" cy="82296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0128" y="1298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📡 Signal Harvester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691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10128" y="199339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research and market signals, enriches against family profiles, scores against rubric, fires alerts.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3429000"/>
            <a:ext cx="2423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10128" y="34930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C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0128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fetch_pubmed · fetch_prices · match_profiles · score_signal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1234440"/>
            <a:ext cx="2651760" cy="3474720"/>
          </a:xfrm>
          <a:prstGeom prst="rect">
            <a:avLst/>
          </a:prstGeom>
          <a:solidFill>
            <a:srgbClr val="FDFAF4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0760" y="1234440"/>
            <a:ext cx="2651760" cy="822960"/>
          </a:xfrm>
          <a:prstGeom prst="rect">
            <a:avLst/>
          </a:prstGeom>
          <a:solidFill>
            <a:srgbClr val="3E6B4A"/>
          </a:solidFill>
          <a:ln w="12700">
            <a:solidFill>
              <a:srgbClr val="3E6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0488" y="12984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Support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1691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INTERFACE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0488" y="1993392"/>
            <a:ext cx="2423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Sage (general), Alex (account), or Morgan (billing). Full ticket persistence and streaming.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0488" y="3429000"/>
            <a:ext cx="242316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90488" y="3493008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E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0488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1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detect_category · generate_response · stream_response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share Phoenix Arize observability — every LLM call creates a trace with family.id, signal.type, and approval.decision attributes.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010"/>
          </a:solidFill>
          <a:ln w="12700">
            <a:solidFill>
              <a:srgbClr val="3B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PILLAR 3  ·  COMPLIANCE 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Note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64008" cy="3291840"/>
          </a:xfrm>
          <a:prstGeom prst="rect">
            <a:avLst/>
          </a:prstGeom>
          <a:solidFill>
            <a:srgbClr val="1E3A2F"/>
          </a:solidFill>
          <a:ln w="12700">
            <a:solidFill>
              <a:srgbClr val="1E3A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572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993392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(public, no PII)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Food Facts (public)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— family profiles, health conditions, plan history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— email addresses for notifications only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64008" cy="3291840"/>
          </a:xfrm>
          <a:prstGeom prst="rect">
            <a:avLst/>
          </a:prstGeom>
          <a:solidFill>
            <a:srgbClr val="C05A2B"/>
          </a:solidFill>
          <a:ln w="12700">
            <a:solidFill>
              <a:srgbClr val="C05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10712" y="1572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Gets Logged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10712" y="1993392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event (type, score, family_id)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decision (method, timestamp, decision)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LLM call via Phoenix Arize (model, tokens, latency)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support ticket and message thread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64008" cy="3291840"/>
          </a:xfrm>
          <a:prstGeom prst="rect">
            <a:avLst/>
          </a:prstGeom>
          <a:solidFill>
            <a:srgbClr val="3B2010"/>
          </a:solidFill>
          <a:ln w="12700">
            <a:solidFill>
              <a:srgbClr val="3B20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91072" y="15727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Nos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91072" y="1993392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plan regeneration without human approval on health signals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animal/in-vitro studies surfaced as actionable alerts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PubMed data stored beyond 7 days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3B20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card or sensitive ID data handled by the system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is design, not paperwork. These constraints were written in week one and shaped what was built.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E4A35"/>
          </a:solidFill>
          <a:ln w="12700">
            <a:solidFill>
              <a:srgbClr val="2E4A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Retrospective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shipped · What was cut · What's next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3898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C4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Shipped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atomic MCP tools (PubMed, pricing, matcher, scorer)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relational schema — 15 tables with full audit trail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approval flow — email + in-app, token resolution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3-agent support system (Sage / Alex / Morgan)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Arize observability — traces confirmed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portfolio repo — daily commit cadence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46120" y="13898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85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✂ Cut for Part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82880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visual workflow (deprioritized — not load-bearing)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enrichment pipeline (scoped to Part 2 integration)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pricing API (Open Food Facts used as proxy)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approval card component on dashboard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13898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Part 2 Focus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82880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topology with CrewAI or Agent Teams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 — 10+ test cases, LLM-as-judge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safety: sandbox, permissions, lethal-trifecta audit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persistence across context clears (thoughts/ directory)</a:t>
            </a:r>
            <a:endParaRPr lang="en-US" sz="10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GitHub tag by Jun 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9BRAINS / Divergence Academy / Helm  ·  Intelligent Automation Immersive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Microsoft Office PowerPoint</Application>
  <PresentationFormat>On-screen Show (16:9)</PresentationFormat>
  <Paragraphs>178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 Roots Signal Harvester — Capstone Part 1</dc:title>
  <dc:subject>PptxGenJS Presentation</dc:subject>
  <dc:creator>Tasheena Aguilera</dc:creator>
  <cp:lastModifiedBy>Tasheena Aguilera</cp:lastModifiedBy>
  <cp:revision>1</cp:revision>
  <dcterms:created xsi:type="dcterms:W3CDTF">2026-05-12T20:00:35Z</dcterms:created>
  <dcterms:modified xsi:type="dcterms:W3CDTF">2026-05-12T20:13:32Z</dcterms:modified>
</cp:coreProperties>
</file>